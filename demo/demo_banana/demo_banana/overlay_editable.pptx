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3296900" cy="716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1" Type="http://schemas.openxmlformats.org/officeDocument/2006/relationships/slideLayout" Target="../slideLayouts/slideLayout7.xml"/><Relationship Id="rId50" Type="http://schemas.openxmlformats.org/officeDocument/2006/relationships/image" Target="../media/image51.png"/><Relationship Id="rId5" Type="http://schemas.openxmlformats.org/officeDocument/2006/relationships/image" Target="../media/image6.png"/><Relationship Id="rId49" Type="http://schemas.openxmlformats.org/officeDocument/2006/relationships/image" Target="../media/image50.png"/><Relationship Id="rId48" Type="http://schemas.openxmlformats.org/officeDocument/2006/relationships/image" Target="../media/image49.png"/><Relationship Id="rId47" Type="http://schemas.openxmlformats.org/officeDocument/2006/relationships/image" Target="../media/image48.png"/><Relationship Id="rId46" Type="http://schemas.openxmlformats.org/officeDocument/2006/relationships/image" Target="../media/image47.png"/><Relationship Id="rId45" Type="http://schemas.openxmlformats.org/officeDocument/2006/relationships/image" Target="../media/image46.png"/><Relationship Id="rId44" Type="http://schemas.openxmlformats.org/officeDocument/2006/relationships/image" Target="../media/image45.png"/><Relationship Id="rId43" Type="http://schemas.openxmlformats.org/officeDocument/2006/relationships/image" Target="../media/image44.png"/><Relationship Id="rId42" Type="http://schemas.openxmlformats.org/officeDocument/2006/relationships/image" Target="../media/image43.png"/><Relationship Id="rId41" Type="http://schemas.openxmlformats.org/officeDocument/2006/relationships/image" Target="../media/image42.png"/><Relationship Id="rId40" Type="http://schemas.openxmlformats.org/officeDocument/2006/relationships/image" Target="../media/image41.png"/><Relationship Id="rId4" Type="http://schemas.openxmlformats.org/officeDocument/2006/relationships/image" Target="../media/image5.png"/><Relationship Id="rId39" Type="http://schemas.openxmlformats.org/officeDocument/2006/relationships/image" Target="../media/image40.png"/><Relationship Id="rId38" Type="http://schemas.openxmlformats.org/officeDocument/2006/relationships/image" Target="../media/image39.png"/><Relationship Id="rId37" Type="http://schemas.openxmlformats.org/officeDocument/2006/relationships/image" Target="../media/image38.png"/><Relationship Id="rId36" Type="http://schemas.openxmlformats.org/officeDocument/2006/relationships/image" Target="../media/image37.png"/><Relationship Id="rId35" Type="http://schemas.openxmlformats.org/officeDocument/2006/relationships/image" Target="../media/image36.png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5.png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1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7.png"/><Relationship Id="rId11" Type="http://schemas.openxmlformats.org/officeDocument/2006/relationships/image" Target="../media/image86.png"/><Relationship Id="rId10" Type="http://schemas.openxmlformats.org/officeDocument/2006/relationships/image" Target="../media/image85.png"/><Relationship Id="rId1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9.png"/><Relationship Id="rId11" Type="http://schemas.openxmlformats.org/officeDocument/2006/relationships/image" Target="../media/image98.png"/><Relationship Id="rId10" Type="http://schemas.openxmlformats.org/officeDocument/2006/relationships/image" Target="../media/image97.png"/><Relationship Id="rId1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Original Image</a:t>
            </a:r>
            <a:endParaRPr sz="2000" b="1">
              <a:solidFill>
                <a:srgbClr val="282828"/>
              </a:solidFill>
            </a:endParaRPr>
          </a:p>
        </p:txBody>
      </p:sp>
      <p:pic>
        <p:nvPicPr>
          <p:cNvPr id="4" name="Picture 3" descr="demo_banan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49" y="685800"/>
            <a:ext cx="11420475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estored_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296900" cy="716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47649"/>
            <a:ext cx="683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765" b="1">
                <a:solidFill>
                  <a:srgbClr val="040301"/>
                </a:solidFill>
              </a:rPr>
              <a:t>CBC Framework: Structured Consistency Reasoning</a:t>
            </a:r>
            <a:endParaRPr sz="1765" b="1">
              <a:solidFill>
                <a:srgbClr val="04030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8875" y="533400"/>
            <a:ext cx="367664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555" b="1">
                <a:solidFill>
                  <a:srgbClr val="040300"/>
                </a:solidFill>
              </a:rPr>
              <a:t>Two-Stage Training Regimen</a:t>
            </a:r>
            <a:endParaRPr sz="1555" b="1">
              <a:solidFill>
                <a:srgbClr val="0403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72600" y="800100"/>
            <a:ext cx="30956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220" b="0">
                <a:solidFill>
                  <a:srgbClr val="1B140A"/>
                </a:solidFill>
              </a:rPr>
              <a:t>Stage 1： Cold-Start Supervision</a:t>
            </a:r>
            <a:endParaRPr sz="1220" b="0">
              <a:solidFill>
                <a:srgbClr val="1B140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4700" y="10001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175" b="1">
                <a:solidFill>
                  <a:srgbClr val="050200"/>
                </a:solidFill>
              </a:rPr>
              <a:t>CBC Module</a:t>
            </a:r>
            <a:endParaRPr sz="1175" b="1">
              <a:solidFill>
                <a:srgbClr val="0502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3225" y="1295400"/>
            <a:ext cx="21526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175" b="0">
                <a:solidFill>
                  <a:srgbClr val="231C14"/>
                </a:solidFill>
              </a:rPr>
              <a:t>(Semantic Projection &amp;</a:t>
            </a:r>
            <a:endParaRPr sz="1175" b="0">
              <a:solidFill>
                <a:srgbClr val="231C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4200" y="1543050"/>
            <a:ext cx="17811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220" b="1">
                <a:solidFill>
                  <a:srgbClr val="1F170C"/>
                </a:solidFill>
              </a:rPr>
              <a:t>Consistency Check)</a:t>
            </a:r>
            <a:endParaRPr sz="1220" b="1">
              <a:solidFill>
                <a:srgbClr val="1F170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43975" y="1971675"/>
            <a:ext cx="7905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010101"/>
                </a:solidFill>
              </a:rPr>
              <a:t>Synthetic</a:t>
            </a:r>
            <a:endParaRPr sz="965" b="1">
              <a:solidFill>
                <a:srgbClr val="01010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34600" y="1981199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10100"/>
                </a:solidFill>
              </a:rPr>
              <a:t>Teacher</a:t>
            </a:r>
            <a:endParaRPr sz="840" b="1">
              <a:solidFill>
                <a:srgbClr val="0101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82350" y="1971675"/>
            <a:ext cx="8858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25" b="1">
                <a:solidFill>
                  <a:srgbClr val="010101"/>
                </a:solidFill>
              </a:rPr>
              <a:t>Supervised</a:t>
            </a:r>
            <a:endParaRPr sz="925" b="1">
              <a:solidFill>
                <a:srgbClr val="01010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6800" y="1990725"/>
            <a:ext cx="3143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30305"/>
                </a:solidFill>
              </a:rPr>
              <a:t>CBC</a:t>
            </a:r>
            <a:endParaRPr sz="800" b="1">
              <a:solidFill>
                <a:srgbClr val="03030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650" y="2209800"/>
            <a:ext cx="6953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50" b="1">
                <a:solidFill>
                  <a:srgbClr val="140F09"/>
                </a:solidFill>
              </a:rPr>
              <a:t>System</a:t>
            </a:r>
            <a:endParaRPr sz="1050" b="1">
              <a:solidFill>
                <a:srgbClr val="140F0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96150" y="2162175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0C0703"/>
                </a:solidFill>
              </a:rPr>
              <a:t>Execute</a:t>
            </a:r>
            <a:endParaRPr sz="965" b="1">
              <a:solidFill>
                <a:srgbClr val="0C070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53525" y="2200275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10101"/>
                </a:solidFill>
              </a:rPr>
              <a:t>Data</a:t>
            </a:r>
            <a:endParaRPr sz="840" b="1">
              <a:solidFill>
                <a:srgbClr val="01010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29850" y="21907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00002"/>
                </a:solidFill>
              </a:rPr>
              <a:t>Model</a:t>
            </a:r>
            <a:endParaRPr sz="840" b="1">
              <a:solidFill>
                <a:srgbClr val="00000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3775" y="2190750"/>
            <a:ext cx="9429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10" b="1">
                <a:solidFill>
                  <a:srgbClr val="010100"/>
                </a:solidFill>
              </a:rPr>
              <a:t>Fine-Tuning</a:t>
            </a:r>
            <a:endParaRPr sz="1010" b="1">
              <a:solidFill>
                <a:srgbClr val="0101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11075" y="21907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00000"/>
                </a:solidFill>
              </a:rPr>
              <a:t>Model</a:t>
            </a:r>
            <a:endParaRPr sz="840" b="1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625" y="2457450"/>
            <a:ext cx="10763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25" b="1">
                <a:solidFill>
                  <a:srgbClr val="0D0802"/>
                </a:solidFill>
              </a:rPr>
              <a:t>Instruction</a:t>
            </a:r>
            <a:endParaRPr sz="925" b="1">
              <a:solidFill>
                <a:srgbClr val="0D080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1500" y="24955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3F0E09"/>
                </a:solidFill>
              </a:rPr>
              <a:t>Action</a:t>
            </a:r>
            <a:endParaRPr sz="800" b="1">
              <a:solidFill>
                <a:srgbClr val="3F0E0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29450" y="2400300"/>
            <a:ext cx="12858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343024"/>
                </a:solidFill>
              </a:rPr>
              <a:t>(Consistent Task)</a:t>
            </a:r>
            <a:endParaRPr sz="965" b="1">
              <a:solidFill>
                <a:srgbClr val="343024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91575" y="2400300"/>
            <a:ext cx="10858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70707"/>
                </a:solidFill>
              </a:rPr>
              <a:t>(Seeds+Ijectiens)</a:t>
            </a:r>
            <a:endParaRPr sz="800" b="1">
              <a:solidFill>
                <a:srgbClr val="070707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53625" y="2400300"/>
            <a:ext cx="1019174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60604"/>
                </a:solidFill>
              </a:rPr>
              <a:t>(Reasoning Traces)</a:t>
            </a:r>
            <a:endParaRPr sz="800" b="1">
              <a:solidFill>
                <a:srgbClr val="060604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68100" y="2400300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40402"/>
                </a:solidFill>
              </a:rPr>
              <a:t>(SFT)</a:t>
            </a:r>
            <a:endParaRPr sz="800" b="1">
              <a:solidFill>
                <a:srgbClr val="04040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430125" y="2400300"/>
            <a:ext cx="4286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A0B06"/>
                </a:solidFill>
              </a:rPr>
              <a:t>(Initial)</a:t>
            </a:r>
            <a:endParaRPr sz="800" b="1">
              <a:solidFill>
                <a:srgbClr val="0A0B0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76674" y="318135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4E320D"/>
                </a:solidFill>
              </a:rPr>
              <a:t>Constraint</a:t>
            </a:r>
            <a:endParaRPr sz="800" b="1">
              <a:solidFill>
                <a:srgbClr val="4E320D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2975" y="3162300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C1E0E"/>
                </a:solidFill>
              </a:rPr>
              <a:t>Domain</a:t>
            </a:r>
            <a:endParaRPr sz="800" b="1">
              <a:solidFill>
                <a:srgbClr val="0C1E0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15400" y="3095625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260" b="0">
                <a:solidFill>
                  <a:srgbClr val="1D160C"/>
                </a:solidFill>
              </a:rPr>
              <a:t>Stage 2： Dual-Objective Online Alignment</a:t>
            </a:r>
            <a:endParaRPr sz="1260" b="0">
              <a:solidFill>
                <a:srgbClr val="1D160C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09975" y="37147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25" b="0">
                <a:solidFill>
                  <a:srgbClr val="0C0900"/>
                </a:solidFill>
              </a:rPr>
              <a:t>Semantic Dimensions:</a:t>
            </a:r>
            <a:endParaRPr sz="925" b="0">
              <a:solidFill>
                <a:srgbClr val="0C09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10449" y="3314700"/>
            <a:ext cx="5524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2560" b="1">
                <a:solidFill>
                  <a:srgbClr val="CFC4B2"/>
                </a:solidFill>
              </a:rPr>
              <a:t>?</a:t>
            </a:r>
            <a:endParaRPr sz="2560" b="1">
              <a:solidFill>
                <a:srgbClr val="CFC4B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277725" y="35718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10101"/>
                </a:solidFill>
              </a:rPr>
              <a:t>Format</a:t>
            </a:r>
            <a:endParaRPr sz="800" b="1">
              <a:solidFill>
                <a:srgbClr val="01010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268200" y="3762374"/>
            <a:ext cx="49529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10002"/>
                </a:solidFill>
              </a:rPr>
              <a:t>Reward</a:t>
            </a:r>
            <a:endParaRPr sz="800" b="1">
              <a:solidFill>
                <a:srgbClr val="01000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14775" y="3952875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0">
                <a:solidFill>
                  <a:srgbClr val="2C251B"/>
                </a:solidFill>
              </a:rPr>
              <a:t>Action, Constraint,</a:t>
            </a:r>
            <a:endParaRPr sz="800" b="0">
              <a:solidFill>
                <a:srgbClr val="2C251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38825" y="3990974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10" b="1">
                <a:solidFill>
                  <a:srgbClr val="383127"/>
                </a:solidFill>
              </a:rPr>
              <a:t>Policy</a:t>
            </a:r>
            <a:endParaRPr sz="1010" b="1">
              <a:solidFill>
                <a:srgbClr val="383127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52925" y="4152900"/>
            <a:ext cx="52387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150E04"/>
                </a:solidFill>
              </a:rPr>
              <a:t>Domain</a:t>
            </a:r>
            <a:endParaRPr sz="800" b="1">
              <a:solidFill>
                <a:srgbClr val="150E0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86425" y="4219575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180F08"/>
                </a:solidFill>
              </a:rPr>
              <a:t>Execution</a:t>
            </a:r>
            <a:endParaRPr sz="800" b="1">
              <a:solidFill>
                <a:srgbClr val="180F0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86625" y="4105274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175" b="1">
                <a:solidFill>
                  <a:srgbClr val="0E0903"/>
                </a:solidFill>
              </a:rPr>
              <a:t>Degrade</a:t>
            </a:r>
            <a:endParaRPr sz="1175" b="1">
              <a:solidFill>
                <a:srgbClr val="0E0903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34800" y="4181475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49140C"/>
                </a:solidFill>
              </a:rPr>
              <a:t>×</a:t>
            </a:r>
            <a:endParaRPr sz="965" b="1">
              <a:solidFill>
                <a:srgbClr val="49140C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39600" y="4114800"/>
            <a:ext cx="99059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30104"/>
                </a:solidFill>
              </a:rPr>
              <a:t>Failure Penalty</a:t>
            </a:r>
            <a:endParaRPr sz="800" b="1">
              <a:solidFill>
                <a:srgbClr val="03010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2900" y="4333875"/>
            <a:ext cx="1257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135" b="1">
                <a:solidFill>
                  <a:srgbClr val="120D07"/>
                </a:solidFill>
              </a:rPr>
              <a:t>User Request</a:t>
            </a:r>
            <a:endParaRPr sz="1135" b="1">
              <a:solidFill>
                <a:srgbClr val="120D07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67550" y="4343400"/>
            <a:ext cx="12192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80" b="1">
                <a:solidFill>
                  <a:srgbClr val="1A1613"/>
                </a:solidFill>
              </a:rPr>
              <a:t>(Non-executable</a:t>
            </a:r>
            <a:endParaRPr sz="880" b="1">
              <a:solidFill>
                <a:srgbClr val="1A1613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030075" y="4295775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20202"/>
                </a:solidFill>
              </a:rPr>
              <a:t>(Safety Priority)</a:t>
            </a:r>
            <a:endParaRPr sz="800" b="1">
              <a:solidFill>
                <a:srgbClr val="020202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53299" y="4552950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80" b="1">
                <a:solidFill>
                  <a:srgbClr val="272621"/>
                </a:solidFill>
              </a:rPr>
              <a:t>Context)</a:t>
            </a:r>
            <a:endParaRPr sz="880" b="1">
              <a:solidFill>
                <a:srgbClr val="27262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91575" y="4619625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80" b="1">
                <a:solidFill>
                  <a:srgbClr val="010101"/>
                </a:solidFill>
              </a:rPr>
              <a:t>Augmented Data</a:t>
            </a:r>
            <a:endParaRPr sz="880" b="1">
              <a:solidFill>
                <a:srgbClr val="01010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06050" y="4610100"/>
            <a:ext cx="10001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80" b="1">
                <a:solidFill>
                  <a:srgbClr val="000201"/>
                </a:solidFill>
              </a:rPr>
              <a:t>Online GRPO</a:t>
            </a:r>
            <a:endParaRPr sz="880" b="1">
              <a:solidFill>
                <a:srgbClr val="00020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134850" y="4667250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20202"/>
                </a:solidFill>
              </a:rPr>
              <a:t>Task Utility</a:t>
            </a:r>
            <a:endParaRPr sz="840" b="1">
              <a:solidFill>
                <a:srgbClr val="02020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39225" y="4810125"/>
            <a:ext cx="8286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10101"/>
                </a:solidFill>
              </a:rPr>
              <a:t>(Sub-steps+</a:t>
            </a:r>
            <a:endParaRPr sz="840" b="1">
              <a:solidFill>
                <a:srgbClr val="01010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325100" y="4819650"/>
            <a:ext cx="94297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25" b="1">
                <a:solidFill>
                  <a:srgbClr val="020202"/>
                </a:solidFill>
              </a:rPr>
              <a:t>(Optimization)</a:t>
            </a:r>
            <a:endParaRPr sz="925" b="1">
              <a:solidFill>
                <a:srgbClr val="02020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315825" y="48672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>
                <a:solidFill>
                  <a:srgbClr val="010101"/>
                </a:solidFill>
              </a:rPr>
              <a:t>Score</a:t>
            </a:r>
            <a:endParaRPr sz="800" b="1">
              <a:solidFill>
                <a:srgbClr val="01010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96375" y="5000625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40" b="1">
                <a:solidFill>
                  <a:srgbClr val="030102"/>
                </a:solidFill>
              </a:rPr>
              <a:t>Injections)</a:t>
            </a:r>
            <a:endParaRPr sz="840" b="1">
              <a:solidFill>
                <a:srgbClr val="030102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38450" y="5676900"/>
            <a:ext cx="23526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50" b="0">
                <a:solidFill>
                  <a:srgbClr val="100C03"/>
                </a:solidFill>
              </a:rPr>
              <a:t>Inconsistency Indicators</a:t>
            </a:r>
            <a:endParaRPr sz="1050" b="0">
              <a:solidFill>
                <a:srgbClr val="100C03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14625" y="5915025"/>
            <a:ext cx="25908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880" b="0">
                <a:solidFill>
                  <a:srgbClr val="31271D"/>
                </a:solidFill>
              </a:rPr>
              <a:t>(Action-Constraint,Action-Domain,</a:t>
            </a:r>
            <a:endParaRPr sz="880" b="0">
              <a:solidFill>
                <a:srgbClr val="31271D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47925" y="6105525"/>
            <a:ext cx="3124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25" b="0">
                <a:solidFill>
                  <a:srgbClr val="28241B"/>
                </a:solidFill>
              </a:rPr>
              <a:t>Constraint-Constraint,Domain-Irrelevant)</a:t>
            </a:r>
            <a:endParaRPr sz="925" b="0">
              <a:solidFill>
                <a:srgbClr val="28241B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286625" y="5991225"/>
            <a:ext cx="7048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0E0A01"/>
                </a:solidFill>
              </a:rPr>
              <a:t>Discard</a:t>
            </a:r>
            <a:endParaRPr sz="965" b="1">
              <a:solidFill>
                <a:srgbClr val="0E0A0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487150" y="6048375"/>
            <a:ext cx="9810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965" b="1">
                <a:solidFill>
                  <a:srgbClr val="080401"/>
                </a:solidFill>
              </a:rPr>
              <a:t>CBC Model</a:t>
            </a:r>
            <a:endParaRPr sz="965" b="1">
              <a:solidFill>
                <a:srgbClr val="08040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3850" y="626745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10" b="1">
                <a:solidFill>
                  <a:srgbClr val="0A0501"/>
                </a:solidFill>
              </a:rPr>
              <a:t>External Data</a:t>
            </a:r>
            <a:endParaRPr sz="1010" b="1">
              <a:solidFill>
                <a:srgbClr val="0A050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43700" y="6219825"/>
            <a:ext cx="17716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50" b="0">
                <a:solidFill>
                  <a:srgbClr val="2F2A26"/>
                </a:solidFill>
              </a:rPr>
              <a:t>(Conflicting Objectives)</a:t>
            </a:r>
            <a:endParaRPr sz="1050" b="0">
              <a:solidFill>
                <a:srgbClr val="2F2A26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201400" y="6276975"/>
            <a:ext cx="17049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010" b="0">
                <a:solidFill>
                  <a:srgbClr val="27241B"/>
                </a:solidFill>
              </a:rPr>
              <a:t>(Robust &amp; High-Utility)</a:t>
            </a:r>
            <a:endParaRPr sz="1010" b="0">
              <a:solidFill>
                <a:srgbClr val="27241B"/>
              </a:solidFill>
            </a:endParaRPr>
          </a:p>
        </p:txBody>
      </p:sp>
      <p:pic>
        <p:nvPicPr>
          <p:cNvPr id="59" name="Picture 58" descr="visual_001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476625"/>
            <a:ext cx="790575" cy="390525"/>
          </a:xfrm>
          <a:prstGeom prst="rect">
            <a:avLst/>
          </a:prstGeom>
        </p:spPr>
      </p:pic>
      <p:pic>
        <p:nvPicPr>
          <p:cNvPr id="60" name="Picture 59" descr="visual_002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438275"/>
            <a:ext cx="790575" cy="1733550"/>
          </a:xfrm>
          <a:prstGeom prst="rect">
            <a:avLst/>
          </a:prstGeom>
        </p:spPr>
      </p:pic>
      <p:pic>
        <p:nvPicPr>
          <p:cNvPr id="61" name="Picture 60" descr="visual_003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4181475"/>
            <a:ext cx="790575" cy="1447800"/>
          </a:xfrm>
          <a:prstGeom prst="rect">
            <a:avLst/>
          </a:prstGeom>
        </p:spPr>
      </p:pic>
      <p:pic>
        <p:nvPicPr>
          <p:cNvPr id="62" name="Picture 61" descr="visual_004_t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3476625"/>
            <a:ext cx="561975" cy="390525"/>
          </a:xfrm>
          <a:prstGeom prst="rect">
            <a:avLst/>
          </a:prstGeom>
        </p:spPr>
      </p:pic>
      <p:pic>
        <p:nvPicPr>
          <p:cNvPr id="63" name="Picture 62" descr="visual_005_t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8025" y="2676525"/>
            <a:ext cx="333375" cy="400050"/>
          </a:xfrm>
          <a:prstGeom prst="rect">
            <a:avLst/>
          </a:prstGeom>
        </p:spPr>
      </p:pic>
      <p:pic>
        <p:nvPicPr>
          <p:cNvPr id="64" name="Picture 63" descr="visual_006_t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050" y="5257800"/>
            <a:ext cx="333375" cy="400050"/>
          </a:xfrm>
          <a:prstGeom prst="rect">
            <a:avLst/>
          </a:prstGeom>
        </p:spPr>
      </p:pic>
      <p:pic>
        <p:nvPicPr>
          <p:cNvPr id="65" name="Picture 64" descr="visual_007_t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87225" y="1514475"/>
            <a:ext cx="333375" cy="219075"/>
          </a:xfrm>
          <a:prstGeom prst="rect">
            <a:avLst/>
          </a:prstGeom>
        </p:spPr>
      </p:pic>
      <p:pic>
        <p:nvPicPr>
          <p:cNvPr id="66" name="Picture 65" descr="visual_008_t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475" y="3495675"/>
            <a:ext cx="476250" cy="352425"/>
          </a:xfrm>
          <a:prstGeom prst="rect">
            <a:avLst/>
          </a:prstGeom>
        </p:spPr>
      </p:pic>
      <p:pic>
        <p:nvPicPr>
          <p:cNvPr id="67" name="Picture 66" descr="visual_009_t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1524000"/>
            <a:ext cx="323850" cy="209550"/>
          </a:xfrm>
          <a:prstGeom prst="rect">
            <a:avLst/>
          </a:prstGeom>
        </p:spPr>
      </p:pic>
      <p:pic>
        <p:nvPicPr>
          <p:cNvPr id="68" name="Picture 67" descr="visual_010_t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1250" y="4067175"/>
            <a:ext cx="342900" cy="209550"/>
          </a:xfrm>
          <a:prstGeom prst="rect">
            <a:avLst/>
          </a:prstGeom>
        </p:spPr>
      </p:pic>
      <p:pic>
        <p:nvPicPr>
          <p:cNvPr id="69" name="Picture 68" descr="visual_011_tigh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4700" y="1524000"/>
            <a:ext cx="323850" cy="209550"/>
          </a:xfrm>
          <a:prstGeom prst="rect">
            <a:avLst/>
          </a:prstGeom>
        </p:spPr>
      </p:pic>
      <p:pic>
        <p:nvPicPr>
          <p:cNvPr id="70" name="Picture 69" descr="visual_012_tigh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3962399"/>
            <a:ext cx="847725" cy="1838324"/>
          </a:xfrm>
          <a:prstGeom prst="rect">
            <a:avLst/>
          </a:prstGeom>
        </p:spPr>
      </p:pic>
      <p:pic>
        <p:nvPicPr>
          <p:cNvPr id="71" name="Picture 70" descr="visual_013_tigh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6050" y="1466850"/>
            <a:ext cx="828675" cy="1905000"/>
          </a:xfrm>
          <a:prstGeom prst="rect">
            <a:avLst/>
          </a:prstGeom>
        </p:spPr>
      </p:pic>
      <p:pic>
        <p:nvPicPr>
          <p:cNvPr id="72" name="Picture 71" descr="visual_014_tigh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1850" y="3790949"/>
            <a:ext cx="276225" cy="400050"/>
          </a:xfrm>
          <a:prstGeom prst="rect">
            <a:avLst/>
          </a:prstGeom>
        </p:spPr>
      </p:pic>
      <p:pic>
        <p:nvPicPr>
          <p:cNvPr id="73" name="Picture 72" descr="visual_015_tigh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2850" y="3390900"/>
            <a:ext cx="304800" cy="476250"/>
          </a:xfrm>
          <a:prstGeom prst="rect">
            <a:avLst/>
          </a:prstGeom>
        </p:spPr>
      </p:pic>
      <p:pic>
        <p:nvPicPr>
          <p:cNvPr id="74" name="Picture 73" descr="visual_016_tigh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2350" y="5191125"/>
            <a:ext cx="685800" cy="781050"/>
          </a:xfrm>
          <a:prstGeom prst="rect">
            <a:avLst/>
          </a:prstGeom>
        </p:spPr>
      </p:pic>
      <p:pic>
        <p:nvPicPr>
          <p:cNvPr id="75" name="Picture 74" descr="visual_017_tigh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3648075"/>
            <a:ext cx="800100" cy="933449"/>
          </a:xfrm>
          <a:prstGeom prst="rect">
            <a:avLst/>
          </a:prstGeom>
        </p:spPr>
      </p:pic>
      <p:pic>
        <p:nvPicPr>
          <p:cNvPr id="76" name="Picture 75" descr="visual_018_tigh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5900" y="1285875"/>
            <a:ext cx="552450" cy="676275"/>
          </a:xfrm>
          <a:prstGeom prst="rect">
            <a:avLst/>
          </a:prstGeom>
        </p:spPr>
      </p:pic>
      <p:pic>
        <p:nvPicPr>
          <p:cNvPr id="77" name="Picture 76" descr="visual_019_tigh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15750" y="3619500"/>
            <a:ext cx="361950" cy="342900"/>
          </a:xfrm>
          <a:prstGeom prst="rect">
            <a:avLst/>
          </a:prstGeom>
        </p:spPr>
      </p:pic>
      <p:pic>
        <p:nvPicPr>
          <p:cNvPr id="78" name="Picture 77" descr="visual_020_tigh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77750" y="1266825"/>
            <a:ext cx="419100" cy="695325"/>
          </a:xfrm>
          <a:prstGeom prst="rect">
            <a:avLst/>
          </a:prstGeom>
        </p:spPr>
      </p:pic>
      <p:pic>
        <p:nvPicPr>
          <p:cNvPr id="79" name="Picture 78" descr="visual_021_tigh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715750" y="4152900"/>
            <a:ext cx="342900" cy="342900"/>
          </a:xfrm>
          <a:prstGeom prst="rect">
            <a:avLst/>
          </a:prstGeom>
        </p:spPr>
      </p:pic>
      <p:pic>
        <p:nvPicPr>
          <p:cNvPr id="80" name="Picture 79" descr="visual_022_tigh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81275" y="4886325"/>
            <a:ext cx="657225" cy="676275"/>
          </a:xfrm>
          <a:prstGeom prst="rect">
            <a:avLst/>
          </a:prstGeom>
        </p:spPr>
      </p:pic>
      <p:pic>
        <p:nvPicPr>
          <p:cNvPr id="81" name="Picture 80" descr="visual_023_tigh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2975" y="5238750"/>
            <a:ext cx="133350" cy="285750"/>
          </a:xfrm>
          <a:prstGeom prst="rect">
            <a:avLst/>
          </a:prstGeom>
        </p:spPr>
      </p:pic>
      <p:pic>
        <p:nvPicPr>
          <p:cNvPr id="82" name="Picture 81" descr="visual_024_tigh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7175" y="4895850"/>
            <a:ext cx="685800" cy="666750"/>
          </a:xfrm>
          <a:prstGeom prst="rect">
            <a:avLst/>
          </a:prstGeom>
        </p:spPr>
      </p:pic>
      <p:pic>
        <p:nvPicPr>
          <p:cNvPr id="83" name="Picture 82" descr="visual_025_tigh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62825" y="1162050"/>
            <a:ext cx="876300" cy="971550"/>
          </a:xfrm>
          <a:prstGeom prst="rect">
            <a:avLst/>
          </a:prstGeom>
        </p:spPr>
      </p:pic>
      <p:pic>
        <p:nvPicPr>
          <p:cNvPr id="84" name="Picture 83" descr="visual_026_tight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725275" y="4657725"/>
            <a:ext cx="323850" cy="447675"/>
          </a:xfrm>
          <a:prstGeom prst="rect">
            <a:avLst/>
          </a:prstGeom>
        </p:spPr>
      </p:pic>
      <p:pic>
        <p:nvPicPr>
          <p:cNvPr id="85" name="Picture 84" descr="visual_027_tigh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19650" y="4886325"/>
            <a:ext cx="666750" cy="676275"/>
          </a:xfrm>
          <a:prstGeom prst="rect">
            <a:avLst/>
          </a:prstGeom>
        </p:spPr>
      </p:pic>
      <p:pic>
        <p:nvPicPr>
          <p:cNvPr id="86" name="Picture 85" descr="visual_028_tight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67100" y="5038725"/>
            <a:ext cx="381000" cy="381000"/>
          </a:xfrm>
          <a:prstGeom prst="rect">
            <a:avLst/>
          </a:prstGeom>
        </p:spPr>
      </p:pic>
      <p:pic>
        <p:nvPicPr>
          <p:cNvPr id="87" name="Picture 86" descr="visual_029_tigh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24225" y="4886325"/>
            <a:ext cx="666750" cy="676275"/>
          </a:xfrm>
          <a:prstGeom prst="rect">
            <a:avLst/>
          </a:prstGeom>
        </p:spPr>
      </p:pic>
      <p:pic>
        <p:nvPicPr>
          <p:cNvPr id="88" name="Picture 87" descr="visual_030_tigh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334750" y="1266825"/>
            <a:ext cx="685800" cy="695325"/>
          </a:xfrm>
          <a:prstGeom prst="rect">
            <a:avLst/>
          </a:prstGeom>
        </p:spPr>
      </p:pic>
      <p:pic>
        <p:nvPicPr>
          <p:cNvPr id="89" name="Picture 88" descr="visual_031_tight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01300" y="3609975"/>
            <a:ext cx="857250" cy="981075"/>
          </a:xfrm>
          <a:prstGeom prst="rect">
            <a:avLst/>
          </a:prstGeom>
        </p:spPr>
      </p:pic>
      <p:pic>
        <p:nvPicPr>
          <p:cNvPr id="90" name="Picture 89" descr="visual_032_tigh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82200" y="5553075"/>
            <a:ext cx="1171575" cy="1362075"/>
          </a:xfrm>
          <a:prstGeom prst="rect">
            <a:avLst/>
          </a:prstGeom>
        </p:spPr>
      </p:pic>
      <p:pic>
        <p:nvPicPr>
          <p:cNvPr id="91" name="Picture 90" descr="visual_033_tight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500" y="4972050"/>
            <a:ext cx="876300" cy="1143000"/>
          </a:xfrm>
          <a:prstGeom prst="rect">
            <a:avLst/>
          </a:prstGeom>
        </p:spPr>
      </p:pic>
      <p:pic>
        <p:nvPicPr>
          <p:cNvPr id="92" name="Picture 91" descr="visual_034_tight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125075" y="1266825"/>
            <a:ext cx="485775" cy="695325"/>
          </a:xfrm>
          <a:prstGeom prst="rect">
            <a:avLst/>
          </a:prstGeom>
        </p:spPr>
      </p:pic>
      <p:pic>
        <p:nvPicPr>
          <p:cNvPr id="93" name="Picture 92" descr="visual_035_tigh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2425" y="3028950"/>
            <a:ext cx="1352550" cy="1295400"/>
          </a:xfrm>
          <a:prstGeom prst="rect">
            <a:avLst/>
          </a:prstGeom>
        </p:spPr>
      </p:pic>
      <p:pic>
        <p:nvPicPr>
          <p:cNvPr id="94" name="Picture 93" descr="visual_036_tigh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61975" y="1066800"/>
            <a:ext cx="952500" cy="942975"/>
          </a:xfrm>
          <a:prstGeom prst="rect">
            <a:avLst/>
          </a:prstGeom>
        </p:spPr>
      </p:pic>
      <p:pic>
        <p:nvPicPr>
          <p:cNvPr id="95" name="Picture 94" descr="visual_037_tigh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10300" y="3314700"/>
            <a:ext cx="714375" cy="704850"/>
          </a:xfrm>
          <a:prstGeom prst="rect">
            <a:avLst/>
          </a:prstGeom>
        </p:spPr>
      </p:pic>
      <p:pic>
        <p:nvPicPr>
          <p:cNvPr id="96" name="Picture 95" descr="visual_038_tight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800975" y="1676400"/>
            <a:ext cx="438150" cy="457200"/>
          </a:xfrm>
          <a:prstGeom prst="rect">
            <a:avLst/>
          </a:prstGeom>
        </p:spPr>
      </p:pic>
      <p:pic>
        <p:nvPicPr>
          <p:cNvPr id="97" name="Picture 96" descr="visual_039_tight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857625" y="2181225"/>
            <a:ext cx="1581150" cy="1343025"/>
          </a:xfrm>
          <a:prstGeom prst="rect">
            <a:avLst/>
          </a:prstGeom>
        </p:spPr>
      </p:pic>
      <p:pic>
        <p:nvPicPr>
          <p:cNvPr id="98" name="Picture 97" descr="visual_040_tight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61950" y="4838700"/>
            <a:ext cx="1400175" cy="1409700"/>
          </a:xfrm>
          <a:prstGeom prst="rect">
            <a:avLst/>
          </a:prstGeom>
        </p:spPr>
      </p:pic>
      <p:pic>
        <p:nvPicPr>
          <p:cNvPr id="99" name="Picture 98" descr="visual_041_tight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33650" y="2847975"/>
            <a:ext cx="1019174" cy="1019174"/>
          </a:xfrm>
          <a:prstGeom prst="rect">
            <a:avLst/>
          </a:prstGeom>
        </p:spPr>
      </p:pic>
      <p:pic>
        <p:nvPicPr>
          <p:cNvPr id="100" name="Picture 99" descr="visual_042_tight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57275" y="3676649"/>
            <a:ext cx="485775" cy="523874"/>
          </a:xfrm>
          <a:prstGeom prst="rect">
            <a:avLst/>
          </a:prstGeom>
        </p:spPr>
      </p:pic>
      <p:pic>
        <p:nvPicPr>
          <p:cNvPr id="101" name="Picture 100" descr="visual_043_tight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6250" y="3143250"/>
            <a:ext cx="990599" cy="647700"/>
          </a:xfrm>
          <a:prstGeom prst="rect">
            <a:avLst/>
          </a:prstGeom>
        </p:spPr>
      </p:pic>
      <p:pic>
        <p:nvPicPr>
          <p:cNvPr id="102" name="Picture 101" descr="visual_044_tight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52425" y="885825"/>
            <a:ext cx="1390650" cy="1295400"/>
          </a:xfrm>
          <a:prstGeom prst="rect">
            <a:avLst/>
          </a:prstGeom>
        </p:spPr>
      </p:pic>
      <p:pic>
        <p:nvPicPr>
          <p:cNvPr id="103" name="Picture 102" descr="visual_045_tight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87050" y="6153150"/>
            <a:ext cx="466724" cy="733425"/>
          </a:xfrm>
          <a:prstGeom prst="rect">
            <a:avLst/>
          </a:prstGeom>
        </p:spPr>
      </p:pic>
      <p:pic>
        <p:nvPicPr>
          <p:cNvPr id="104" name="Picture 103" descr="visual_046_tight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429875" y="4114800"/>
            <a:ext cx="304800" cy="200025"/>
          </a:xfrm>
          <a:prstGeom prst="rect">
            <a:avLst/>
          </a:prstGeom>
        </p:spPr>
      </p:pic>
      <p:pic>
        <p:nvPicPr>
          <p:cNvPr id="105" name="Picture 104" descr="visual_047_tight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228725" y="2524125"/>
            <a:ext cx="276225" cy="161925"/>
          </a:xfrm>
          <a:prstGeom prst="rect">
            <a:avLst/>
          </a:prstGeom>
        </p:spPr>
      </p:pic>
      <p:pic>
        <p:nvPicPr>
          <p:cNvPr id="106" name="Picture 105" descr="visual_048_tight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0075" y="2533650"/>
            <a:ext cx="228600" cy="123824"/>
          </a:xfrm>
          <a:prstGeom prst="rect">
            <a:avLst/>
          </a:prstGeom>
        </p:spPr>
      </p:pic>
      <p:pic>
        <p:nvPicPr>
          <p:cNvPr id="107" name="Picture 106" descr="visual_049_tight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962525" y="5029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1/5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009650"/>
            <a:ext cx="1866899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visual_001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552450"/>
            <a:ext cx="828675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visual_002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552450"/>
            <a:ext cx="990599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visual_003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675" y="828675"/>
            <a:ext cx="1866899" cy="1276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visual_004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114675"/>
            <a:ext cx="152400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visual_005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525" y="3114675"/>
            <a:ext cx="15906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visual_006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3371850"/>
            <a:ext cx="1866899" cy="1304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visual_007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4675" y="3314700"/>
            <a:ext cx="1866899" cy="1428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visual_008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5953125"/>
            <a:ext cx="1866899" cy="1276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visual_009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3650" y="5934075"/>
            <a:ext cx="1866899" cy="13049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visual_010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925" y="5943600"/>
            <a:ext cx="1866899" cy="1285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visual_011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0" y="5676900"/>
            <a:ext cx="85725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visual_012</a:t>
            </a:r>
            <a:endParaRPr sz="900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2/5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552450"/>
            <a:ext cx="8191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visual_013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552450"/>
            <a:ext cx="1304925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visual_014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552450"/>
            <a:ext cx="142875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visual_015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550" y="552450"/>
            <a:ext cx="1590675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visual_016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114675"/>
            <a:ext cx="15811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visual_017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100" y="3114675"/>
            <a:ext cx="153352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visual_018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3162300"/>
            <a:ext cx="1866899" cy="1733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visual_019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25" y="3114675"/>
            <a:ext cx="114300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visual_020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" y="5676900"/>
            <a:ext cx="18288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visual_021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1275" y="5676900"/>
            <a:ext cx="1781175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visual_022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2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9700" y="5676900"/>
            <a:ext cx="885825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visual_023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2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5676900"/>
            <a:ext cx="184785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visual_024</a:t>
            </a:r>
            <a:endParaRPr sz="900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3/5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552450"/>
            <a:ext cx="16573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visual_025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552450"/>
            <a:ext cx="1371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visual_026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552450"/>
            <a:ext cx="1800225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visual_027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75" y="552450"/>
            <a:ext cx="17907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visual_028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3114675"/>
            <a:ext cx="17716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visual_029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275" y="3114675"/>
            <a:ext cx="17811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visual_030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3114675"/>
            <a:ext cx="1552575" cy="1828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visual_031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550" y="3114675"/>
            <a:ext cx="158115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visual_032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3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76900"/>
            <a:ext cx="14097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visual_033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3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8925" y="5676900"/>
            <a:ext cx="1285875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visual_034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3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925" y="5695950"/>
            <a:ext cx="1866899" cy="17811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visual_035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3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3725" y="5676900"/>
            <a:ext cx="182880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visual_036</a:t>
            </a:r>
            <a:endParaRPr sz="900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4/5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" y="552450"/>
            <a:ext cx="18478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visual_037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552450"/>
            <a:ext cx="1752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visual_038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666750"/>
            <a:ext cx="1866899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visual_039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552450"/>
            <a:ext cx="184785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visual_040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3114675"/>
            <a:ext cx="18097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visual_041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8425" y="3114675"/>
            <a:ext cx="16668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visual_042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3429000"/>
            <a:ext cx="1866899" cy="12001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visual_043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4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4675" y="3152775"/>
            <a:ext cx="1866899" cy="1752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visual_044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676900"/>
            <a:ext cx="11811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visual_045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4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3650" y="5934075"/>
            <a:ext cx="1866899" cy="1314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visual_046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4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925" y="5876925"/>
            <a:ext cx="1866899" cy="14192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visual_047</a:t>
            </a:r>
            <a:endParaRPr sz="900">
              <a:solidFill>
                <a:srgbClr val="464646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4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4675" y="6124575"/>
            <a:ext cx="1866899" cy="9334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visual_048</a:t>
            </a:r>
            <a:endParaRPr sz="900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5/5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552450"/>
            <a:ext cx="1866899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visual_049</a:t>
            </a:r>
            <a:endParaRPr sz="900">
              <a:solidFill>
                <a:srgbClr val="46464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WPS Writer</Application>
  <PresentationFormat>On-screen Show (4:3)</PresentationFormat>
  <Paragraphs>222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潘</cp:lastModifiedBy>
  <cp:revision>2</cp:revision>
  <dcterms:created xsi:type="dcterms:W3CDTF">2026-03-30T08:27:31Z</dcterms:created>
  <dcterms:modified xsi:type="dcterms:W3CDTF">2026-03-30T08:27:31Z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1469F88541D464F8F333CA69329260C4_42</vt:lpwstr>
  </property>
  <property fmtid="{D5CDD505-2E9C-101B-9397-08002B2CF9AE}" pid="3" name="KSOProductBuildVer">
    <vt:lpwstr>1033-12.1.22218.22218</vt:lpwstr>
  </property>
</Properties>
</file>