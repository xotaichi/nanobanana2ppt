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3182600" cy="7162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技术路线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182600" cy="7162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技术路线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182600" cy="716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86225" y="66675"/>
            <a:ext cx="5057775" cy="390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19225" y="542925"/>
            <a:ext cx="268605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72175" y="542925"/>
            <a:ext cx="268605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48825" y="542925"/>
            <a:ext cx="291465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76400" y="971550"/>
            <a:ext cx="438150" cy="257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90825" y="971550"/>
            <a:ext cx="447675" cy="257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77175" y="933449"/>
            <a:ext cx="438150" cy="257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5375" y="1304925"/>
            <a:ext cx="695325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1323975"/>
            <a:ext cx="400050" cy="209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81400" y="1285875"/>
            <a:ext cx="1371600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24700" y="942975"/>
            <a:ext cx="781050" cy="561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86700" y="1247775"/>
            <a:ext cx="428625" cy="2476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90675" y="1743075"/>
            <a:ext cx="1419225" cy="314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19750" y="1733550"/>
            <a:ext cx="2095499" cy="323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77475" y="1733550"/>
            <a:ext cx="1428750" cy="323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14525" y="2276475"/>
            <a:ext cx="3048000" cy="38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48650" y="2276475"/>
            <a:ext cx="3543300" cy="38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57375" y="2800350"/>
            <a:ext cx="1866899" cy="314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91700" y="2714625"/>
            <a:ext cx="69532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20550" y="2714625"/>
            <a:ext cx="685800" cy="295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48350" y="2914650"/>
            <a:ext cx="685800" cy="276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39225" y="2971800"/>
            <a:ext cx="2181225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868150" y="2962275"/>
            <a:ext cx="885825" cy="276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05075" y="3219450"/>
            <a:ext cx="571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76699" y="3248025"/>
            <a:ext cx="438150" cy="257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72150" y="3143250"/>
            <a:ext cx="838200" cy="276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00900" y="3171825"/>
            <a:ext cx="371475" cy="2190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934825" y="3181350"/>
            <a:ext cx="847725" cy="276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3874" y="3429000"/>
            <a:ext cx="476250" cy="276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67175" y="3467100"/>
            <a:ext cx="438150" cy="257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05375" y="3381375"/>
            <a:ext cx="352425" cy="2476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62625" y="3362325"/>
            <a:ext cx="838200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4800" y="3657600"/>
            <a:ext cx="923925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52975" y="3600450"/>
            <a:ext cx="657225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82175" y="3514725"/>
            <a:ext cx="695325" cy="295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944350" y="3486150"/>
            <a:ext cx="828675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66899" y="3762374"/>
            <a:ext cx="419100" cy="238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1950" y="3886200"/>
            <a:ext cx="819150" cy="276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14600" y="3781425"/>
            <a:ext cx="485775" cy="2476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28975" y="3762374"/>
            <a:ext cx="419100" cy="2476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924425" y="3819524"/>
            <a:ext cx="285750" cy="295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544050" y="3762374"/>
            <a:ext cx="1076325" cy="276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706100" y="3543300"/>
            <a:ext cx="676275" cy="390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66899" y="3981450"/>
            <a:ext cx="419100" cy="2476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067175" y="3943350"/>
            <a:ext cx="438150" cy="257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9100" y="4095750"/>
            <a:ext cx="685800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57550" y="4010025"/>
            <a:ext cx="361950" cy="2190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52975" y="4057650"/>
            <a:ext cx="657225" cy="295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143750" y="3981450"/>
            <a:ext cx="485775" cy="257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72400" y="4048124"/>
            <a:ext cx="55245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53525" y="3971925"/>
            <a:ext cx="1943100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953875" y="3857625"/>
            <a:ext cx="819150" cy="295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857375" y="4305300"/>
            <a:ext cx="790575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876550" y="4257675"/>
            <a:ext cx="790575" cy="276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953875" y="4238625"/>
            <a:ext cx="828675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990725" y="4533900"/>
            <a:ext cx="581025" cy="257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057525" y="4486275"/>
            <a:ext cx="409575" cy="238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91175" y="4400550"/>
            <a:ext cx="933449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782175" y="4514850"/>
            <a:ext cx="69532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953875" y="4619625"/>
            <a:ext cx="819150" cy="276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00100" y="4791075"/>
            <a:ext cx="828675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133849" y="4819650"/>
            <a:ext cx="2657475" cy="295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200900" y="4781550"/>
            <a:ext cx="371475" cy="209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191500" y="4762500"/>
            <a:ext cx="514350" cy="238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867775" y="4762500"/>
            <a:ext cx="2533650" cy="276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3425" y="5334000"/>
            <a:ext cx="43815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704975" y="5324475"/>
            <a:ext cx="1209675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724400" y="5314950"/>
            <a:ext cx="3762374" cy="371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571875" y="5762625"/>
            <a:ext cx="32385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876674" y="5762625"/>
            <a:ext cx="29337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201150" y="5781675"/>
            <a:ext cx="1390650" cy="323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725275" y="5810250"/>
            <a:ext cx="1209675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6750" y="6134100"/>
            <a:ext cx="447675" cy="257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429625" y="6191250"/>
            <a:ext cx="1028700" cy="295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582150" y="6191250"/>
            <a:ext cx="828675" cy="295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534650" y="6181725"/>
            <a:ext cx="828675" cy="295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86125" y="6438900"/>
            <a:ext cx="447675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66724" y="6572250"/>
            <a:ext cx="828675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990725" y="6581775"/>
            <a:ext cx="43815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257550" y="6677025"/>
            <a:ext cx="504825" cy="276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581525" y="6581775"/>
            <a:ext cx="447675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867400" y="6581775"/>
            <a:ext cx="43815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172325" y="6591300"/>
            <a:ext cx="447675" cy="257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448675" y="6591300"/>
            <a:ext cx="1019174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696450" y="6591300"/>
            <a:ext cx="1009650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915775" y="6562725"/>
            <a:ext cx="828675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114800" y="95250"/>
            <a:ext cx="500062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>
                <a:solidFill>
                  <a:srgbClr val="000403"/>
                </a:solidFill>
                <a:latin typeface="Arial"/>
              </a:rPr>
              <a:t>全流程隐私防护链条构建(TEE-DP融合)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47800" y="571500"/>
            <a:ext cx="26289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>
                <a:solidFill>
                  <a:srgbClr val="010101"/>
                </a:solidFill>
                <a:latin typeface="Arial"/>
              </a:rPr>
              <a:t>可信隐私计算（计算节点）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00750" y="571500"/>
            <a:ext cx="26289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>
                <a:solidFill>
                  <a:srgbClr val="000002"/>
                </a:solidFill>
                <a:latin typeface="Arial"/>
              </a:rPr>
              <a:t>链路状态验证（协作节点）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677400" y="571500"/>
            <a:ext cx="2857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00002"/>
                </a:solidFill>
                <a:latin typeface="Arial"/>
              </a:rPr>
              <a:t>全过程安全审计（审计节点）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704975" y="1000125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40404"/>
                </a:solidFill>
                <a:latin typeface="Arial"/>
              </a:rPr>
              <a:t>数入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819400" y="1000125"/>
            <a:ext cx="390525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60405"/>
                </a:solidFill>
                <a:latin typeface="Arial"/>
              </a:rPr>
              <a:t>数据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905750" y="962024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70506"/>
                </a:solidFill>
                <a:latin typeface="Arial"/>
              </a:rPr>
              <a:t>验证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23950" y="1333500"/>
            <a:ext cx="638175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0090A"/>
                </a:solidFill>
                <a:latin typeface="Arial"/>
              </a:rPr>
              <a:t>Enclave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314575" y="1352550"/>
            <a:ext cx="3429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60A09"/>
                </a:solidFill>
                <a:latin typeface="Arial"/>
              </a:rPr>
              <a:t>-out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09975" y="1314450"/>
            <a:ext cx="13144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50505"/>
                </a:solidFill>
                <a:latin typeface="Arial"/>
              </a:rPr>
              <a:t>差分隐私噪户器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153275" y="971550"/>
            <a:ext cx="7239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98C5CA"/>
                </a:solidFill>
                <a:latin typeface="Arial"/>
              </a:rPr>
              <a:t>→[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915275" y="1276350"/>
            <a:ext cx="3714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60606"/>
                </a:solidFill>
                <a:latin typeface="Arial"/>
              </a:rPr>
              <a:t>验证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19250" y="1771650"/>
            <a:ext cx="1362075" cy="2571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00201"/>
                </a:solidFill>
                <a:latin typeface="Arial"/>
              </a:rPr>
              <a:t>主要数据流流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48325" y="1762125"/>
            <a:ext cx="2038349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>
                <a:solidFill>
                  <a:srgbClr val="000201"/>
                </a:solidFill>
                <a:latin typeface="Arial"/>
              </a:rPr>
              <a:t>隐私流转与审计流转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306050" y="1762125"/>
            <a:ext cx="1371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20202"/>
                </a:solidFill>
                <a:latin typeface="Arial"/>
              </a:rPr>
              <a:t>数据资制流流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943100" y="2305050"/>
            <a:ext cx="29908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00002"/>
                </a:solidFill>
                <a:latin typeface="Arial"/>
              </a:rPr>
              <a:t>可信隐私计算(TEE内部)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77225" y="2305050"/>
            <a:ext cx="34861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10101"/>
                </a:solidFill>
                <a:latin typeface="Arial"/>
              </a:rPr>
              <a:t>链路状态验证（跨节点、跨域）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85950" y="2828925"/>
            <a:ext cx="180975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>
                <a:solidFill>
                  <a:srgbClr val="000A0A"/>
                </a:solidFill>
                <a:latin typeface="Arial"/>
              </a:rPr>
              <a:t>TEE可信执行环境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20275" y="2743200"/>
            <a:ext cx="6381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00805"/>
                </a:solidFill>
                <a:latin typeface="Arial"/>
              </a:rPr>
              <a:t>节点层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049125" y="2743200"/>
            <a:ext cx="6286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00809"/>
                </a:solidFill>
                <a:latin typeface="Arial"/>
              </a:rPr>
              <a:t>策略层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876925" y="2943225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00201"/>
                </a:solidFill>
                <a:latin typeface="Arial"/>
              </a:rPr>
              <a:t>TEE内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67800" y="3000375"/>
            <a:ext cx="212407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91D12"/>
                </a:solidFill>
                <a:latin typeface="Arial"/>
              </a:rPr>
              <a:t>(跨节点证明，分布式身份)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896725" y="2990850"/>
            <a:ext cx="828675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F1B1B"/>
                </a:solidFill>
                <a:latin typeface="Arial"/>
              </a:rPr>
              <a:t>(统一编排，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533650" y="3248025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10705"/>
                </a:solidFill>
                <a:latin typeface="Arial"/>
              </a:rPr>
              <a:t>Core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105274" y="3276600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20403"/>
                </a:solidFill>
                <a:latin typeface="Arial"/>
              </a:rPr>
              <a:t>隐私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800725" y="3171825"/>
            <a:ext cx="78105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30504"/>
                </a:solidFill>
                <a:latin typeface="Arial"/>
              </a:rPr>
              <a:t>动态隐私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229475" y="3200400"/>
            <a:ext cx="314325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00303"/>
                </a:solidFill>
                <a:latin typeface="Arial"/>
              </a:rPr>
              <a:t>end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963400" y="3209925"/>
            <a:ext cx="790575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01515"/>
                </a:solidFill>
                <a:latin typeface="Arial"/>
              </a:rPr>
              <a:t>动态控制)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52450" y="3457575"/>
            <a:ext cx="4191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30802"/>
                </a:solidFill>
                <a:latin typeface="Arial"/>
              </a:rPr>
              <a:t>输入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095750" y="3495675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00805"/>
                </a:solidFill>
                <a:latin typeface="Arial"/>
              </a:rPr>
              <a:t>控制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933950" y="3409950"/>
            <a:ext cx="2952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268798"/>
                </a:solidFill>
                <a:latin typeface="Arial"/>
              </a:rPr>
              <a:t>DP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91200" y="3390900"/>
            <a:ext cx="7810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40404"/>
                </a:solidFill>
                <a:latin typeface="Arial"/>
              </a:rPr>
              <a:t>预算调度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33375" y="3686175"/>
            <a:ext cx="86677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10130C"/>
                </a:solidFill>
                <a:latin typeface="Arial"/>
              </a:rPr>
              <a:t>(敏感数据、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781550" y="3629025"/>
            <a:ext cx="60007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1790A3"/>
                </a:solidFill>
                <a:latin typeface="Arial"/>
              </a:rPr>
              <a:t>差分隐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810750" y="3543300"/>
            <a:ext cx="6381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00702"/>
                </a:solidFill>
                <a:latin typeface="Arial"/>
              </a:rPr>
              <a:t>执行层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972925" y="3514725"/>
            <a:ext cx="7715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10101"/>
                </a:solidFill>
                <a:latin typeface="Arial"/>
              </a:rPr>
              <a:t>节点可信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895474" y="3790949"/>
            <a:ext cx="361950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80607"/>
                </a:solidFill>
                <a:latin typeface="Arial"/>
              </a:rPr>
              <a:t>内存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90525" y="3914775"/>
            <a:ext cx="7620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A1409"/>
                </a:solidFill>
                <a:latin typeface="Arial"/>
              </a:rPr>
              <a:t>策略、推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543175" y="3810000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1791A8"/>
                </a:solidFill>
                <a:latin typeface="Arial"/>
              </a:rPr>
              <a:t>Core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257550" y="3790949"/>
            <a:ext cx="3619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40203"/>
                </a:solidFill>
                <a:latin typeface="Arial"/>
              </a:rPr>
              <a:t>远程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953000" y="3848099"/>
            <a:ext cx="2286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1E899D"/>
                </a:solidFill>
                <a:latin typeface="Arial"/>
              </a:rPr>
              <a:t>私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572625" y="3790949"/>
            <a:ext cx="1019174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61A11"/>
                </a:solidFill>
                <a:latin typeface="Arial"/>
              </a:rPr>
              <a:t>(可验证摘要，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734675" y="3571875"/>
            <a:ext cx="61912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C2B26"/>
                </a:solidFill>
                <a:latin typeface="Arial"/>
              </a:rPr>
              <a:t>自昆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895474" y="4010025"/>
            <a:ext cx="3619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90909"/>
                </a:solidFill>
                <a:latin typeface="Arial"/>
              </a:rPr>
              <a:t>隔离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095750" y="3971925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30504"/>
                </a:solidFill>
                <a:latin typeface="Arial"/>
              </a:rPr>
              <a:t>输出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47675" y="4124325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70E07"/>
                </a:solidFill>
                <a:latin typeface="Arial"/>
              </a:rPr>
              <a:t>理逻辑)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286125" y="4038600"/>
            <a:ext cx="3048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00201"/>
                </a:solidFill>
                <a:latin typeface="Arial"/>
              </a:rPr>
              <a:t>cog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781550" y="4086225"/>
            <a:ext cx="6000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4F7B7E"/>
                </a:solidFill>
                <a:latin typeface="Arial"/>
              </a:rPr>
              <a:t>保护器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172325" y="4010025"/>
            <a:ext cx="428625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30303"/>
                </a:solidFill>
                <a:latin typeface="Arial"/>
              </a:rPr>
              <a:t>edge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800975" y="4076699"/>
            <a:ext cx="495299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10504"/>
                </a:solidFill>
                <a:latin typeface="Arial"/>
              </a:rPr>
              <a:t>Verify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182100" y="4000500"/>
            <a:ext cx="18859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>
                <a:solidFill>
                  <a:srgbClr val="081C1A"/>
                </a:solidFill>
                <a:latin typeface="Arial"/>
              </a:rPr>
              <a:t>完整性校验，状态证明)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1982450" y="3886200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40404"/>
                </a:solidFill>
                <a:latin typeface="Arial"/>
              </a:rPr>
              <a:t>策略控制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885950" y="4333875"/>
            <a:ext cx="73342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10100E"/>
                </a:solidFill>
                <a:latin typeface="Arial"/>
              </a:rPr>
              <a:t>远程度量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905125" y="4286250"/>
            <a:ext cx="733425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D0D0D"/>
                </a:solidFill>
                <a:latin typeface="Arial"/>
              </a:rPr>
              <a:t>关键推理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982450" y="4267200"/>
            <a:ext cx="7715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60805"/>
                </a:solidFill>
                <a:latin typeface="Arial"/>
              </a:rPr>
              <a:t>隐私预算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019300" y="4562475"/>
            <a:ext cx="523874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40605"/>
                </a:solidFill>
                <a:latin typeface="Arial"/>
              </a:rPr>
              <a:t>(scale)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086100" y="4514850"/>
            <a:ext cx="35242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40404"/>
                </a:solidFill>
                <a:latin typeface="Arial"/>
              </a:rPr>
              <a:t>环节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619750" y="4429125"/>
            <a:ext cx="8763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61818"/>
                </a:solidFill>
                <a:latin typeface="Arial"/>
              </a:rPr>
              <a:t>双尺度DP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810750" y="4543425"/>
            <a:ext cx="6381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00A02"/>
                </a:solidFill>
                <a:latin typeface="Arial"/>
              </a:rPr>
              <a:t>协作层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982450" y="4648200"/>
            <a:ext cx="7620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40404"/>
                </a:solidFill>
                <a:latin typeface="Arial"/>
              </a:rPr>
              <a:t>风险等级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28675" y="4819650"/>
            <a:ext cx="7715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8090B"/>
                </a:solidFill>
                <a:latin typeface="Arial"/>
              </a:rPr>
              <a:t>策略控制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162424" y="4848225"/>
            <a:ext cx="260032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20305"/>
                </a:solidFill>
                <a:latin typeface="Arial"/>
              </a:rPr>
              <a:t>内部可信计算→外部受控发布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229475" y="4810125"/>
            <a:ext cx="314325" cy="152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00203"/>
                </a:solidFill>
                <a:latin typeface="Arial"/>
              </a:rPr>
              <a:t>end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220075" y="4791075"/>
            <a:ext cx="457200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00203"/>
                </a:solidFill>
                <a:latin typeface="Arial"/>
              </a:rPr>
              <a:t>cloud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896350" y="4791075"/>
            <a:ext cx="24765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0201E"/>
                </a:solidFill>
                <a:latin typeface="Arial"/>
              </a:rPr>
              <a:t>(最小必要暴露，受控特征交换)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62000" y="5362575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50702"/>
                </a:solidFill>
                <a:latin typeface="Arial"/>
              </a:rPr>
              <a:t>策略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733550" y="5353050"/>
            <a:ext cx="11525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00205"/>
                </a:solidFill>
                <a:latin typeface="Arial"/>
              </a:rPr>
              <a:t>隐私控制逻辑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752975" y="5343525"/>
            <a:ext cx="3705224" cy="3143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全过程安全审计（数据流转追溯）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600450" y="5791200"/>
            <a:ext cx="2667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2F5258"/>
                </a:solidFill>
                <a:latin typeface="Arial"/>
              </a:rPr>
              <a:t>了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905249" y="5791200"/>
            <a:ext cx="28765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91B1B"/>
                </a:solidFill>
                <a:latin typeface="Arial"/>
              </a:rPr>
              <a:t>关键事件筛选（高风险，关键决策）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229725" y="5810250"/>
            <a:ext cx="1333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00709"/>
                </a:solidFill>
                <a:latin typeface="Arial"/>
              </a:rPr>
              <a:t>多维审计模型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1753850" y="5838825"/>
            <a:ext cx="11525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30305"/>
                </a:solidFill>
                <a:latin typeface="Arial"/>
              </a:rPr>
              <a:t>异常事件复盘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95325" y="6162675"/>
            <a:ext cx="390525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192525"/>
                </a:solidFill>
                <a:latin typeface="Arial"/>
              </a:rPr>
              <a:t>(甲)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458200" y="6219825"/>
            <a:ext cx="9715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00504"/>
                </a:solidFill>
                <a:latin typeface="Arial"/>
              </a:rPr>
              <a:t>权限一致性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610725" y="6219825"/>
            <a:ext cx="77152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00507"/>
                </a:solidFill>
                <a:latin typeface="Arial"/>
              </a:rPr>
              <a:t>预算消耗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563225" y="6210300"/>
            <a:ext cx="77152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40404"/>
                </a:solidFill>
                <a:latin typeface="Arial"/>
              </a:rPr>
              <a:t>节点状态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314700" y="6467475"/>
            <a:ext cx="39052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80F07"/>
                </a:solidFill>
                <a:latin typeface="Arial"/>
              </a:rPr>
              <a:t>处理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95299" y="6600825"/>
            <a:ext cx="7715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40605"/>
                </a:solidFill>
                <a:latin typeface="Arial"/>
              </a:rPr>
              <a:t>数据采集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019300" y="661035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40605"/>
                </a:solidFill>
                <a:latin typeface="Arial"/>
              </a:rPr>
              <a:t>传输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286125" y="6705600"/>
            <a:ext cx="447675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B170D"/>
                </a:solidFill>
                <a:latin typeface="Arial"/>
              </a:rPr>
              <a:t>(TEE)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610100" y="6610350"/>
            <a:ext cx="39052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40404"/>
                </a:solidFill>
                <a:latin typeface="Arial"/>
              </a:rPr>
              <a:t>共享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895975" y="661035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60604"/>
                </a:solidFill>
                <a:latin typeface="Arial"/>
              </a:rPr>
              <a:t>输出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200900" y="6619875"/>
            <a:ext cx="390525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40404"/>
                </a:solidFill>
                <a:latin typeface="Arial"/>
              </a:rPr>
              <a:t>追溯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477250" y="6619875"/>
            <a:ext cx="9620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50503"/>
                </a:solidFill>
                <a:latin typeface="Arial"/>
              </a:rPr>
              <a:t>调用合规性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9725025" y="6619875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30504"/>
                </a:solidFill>
                <a:latin typeface="Arial"/>
              </a:rPr>
              <a:t>输出安全性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1944350" y="6591300"/>
            <a:ext cx="7715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>
                <a:solidFill>
                  <a:srgbClr val="060604"/>
                </a:solidFill>
                <a:latin typeface="Arial"/>
              </a:rPr>
              <a:t>策略优化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